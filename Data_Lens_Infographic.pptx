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Lens – Junior Data Analysis track, DEPI. Content taken from the team proposal, WDI_Data.xlsx and the DEPI project guidelines.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4" name="DEPI wordmark box"/>
          <p:cNvSpPr/>
          <p:nvPr/>
        </p:nvSpPr>
        <p:spPr>
          <a:xfrm>
            <a:off x="365760" y="160020"/>
            <a:ext cx="16002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6888"/>
            <a:ext cx="365760" cy="365760"/>
          </a:xfrm>
          <a:prstGeom prst="rect">
            <a:avLst/>
          </a:prstGeom>
        </p:spPr>
      </p:pic>
      <p:sp>
        <p:nvSpPr>
          <p:cNvPr id="6" name="DEPI wordmark"/>
          <p:cNvSpPr txBox="1"/>
          <p:nvPr/>
        </p:nvSpPr>
        <p:spPr>
          <a:xfrm>
            <a:off x="868680" y="182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5B"/>
                </a:solidFill>
              </a:rPr>
              <a:t>DEPI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6D4AFF"/>
                </a:solidFill>
              </a:rPr>
              <a:t>رواد مصر الرقمية</a:t>
            </a:r>
            <a:endParaRPr lang="en-US" sz="1800" dirty="0"/>
          </a:p>
        </p:txBody>
      </p:sp>
      <p:sp>
        <p:nvSpPr>
          <p:cNvPr id="7" name="Text 2"/>
          <p:cNvSpPr txBox="1"/>
          <p:nvPr/>
        </p:nvSpPr>
        <p:spPr>
          <a:xfrm>
            <a:off x="2194560" y="1554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DEPI  |  Digital Egypt Pioneers Initiative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7FE3F5"/>
                </a:solidFill>
              </a:rPr>
              <a:t>Track: Junior Data Analysis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6035040" y="109728"/>
            <a:ext cx="5806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Team Leader: Shahd Mahmoud Abdelmagid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Eman Ali Mostafa · Malak Hassan Mahmoud · Farah Khaled Fathy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Menna Abdelnasser Ramadan · Mariam Baher Mohsen   |   Instructor: Noran El Zeky</a:t>
            </a:r>
            <a:endParaRPr lang="en-US" sz="950" dirty="0"/>
          </a:p>
        </p:txBody>
      </p:sp>
      <p:sp>
        <p:nvSpPr>
          <p:cNvPr id="9" name="Text 4"/>
          <p:cNvSpPr txBox="1"/>
          <p:nvPr/>
        </p:nvSpPr>
        <p:spPr>
          <a:xfrm>
            <a:off x="365760" y="93268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A5B"/>
                </a:solidFill>
              </a:rPr>
              <a:t>Data Lens</a:t>
            </a:r>
            <a:endParaRPr lang="en-US" sz="4000" dirty="0"/>
          </a:p>
        </p:txBody>
      </p:sp>
      <p:sp>
        <p:nvSpPr>
          <p:cNvPr id="10" name="Text 5"/>
          <p:cNvSpPr txBox="1"/>
          <p:nvPr/>
        </p:nvSpPr>
        <p:spPr>
          <a:xfrm>
            <a:off x="3520440" y="96012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4AFF"/>
                </a:solidFill>
              </a:rPr>
              <a:t>Country Data Comparison Dashboard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</a:rPr>
              <a:t>Turning raw World Bank WDI data into an interactive dashboard to compare 22 countries across 74 indicators (2000–2025)</a:t>
            </a:r>
            <a:endParaRPr lang="en-US" sz="1600" dirty="0"/>
          </a:p>
        </p:txBody>
      </p:sp>
      <p:sp>
        <p:nvSpPr>
          <p:cNvPr id="11" name="Business Problem card"/>
          <p:cNvSpPr/>
          <p:nvPr/>
        </p:nvSpPr>
        <p:spPr>
          <a:xfrm>
            <a:off x="365760" y="1828800"/>
            <a:ext cx="2011680" cy="24688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530352" y="1993392"/>
            <a:ext cx="548640" cy="548640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103120"/>
            <a:ext cx="329184" cy="32918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52144" y="1993392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</a:rPr>
              <a:t>Business Problem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265176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</a:rPr>
              <a:t>Messy WDI workbook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</a:rPr>
              <a:t>Duplicate country names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</a:rPr>
              <a:t>".." missing values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</a:rPr>
              <a:t>Empty &amp; duplicate rows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2404872" y="3063240"/>
            <a:ext cx="201168" cy="0"/>
          </a:xfrm>
          <a:prstGeom prst="line">
            <a:avLst/>
          </a:prstGeom>
          <a:noFill/>
          <a:ln w="25400">
            <a:solidFill>
              <a:srgbClr val="6D4AFF"/>
            </a:solidFill>
            <a:prstDash val="solid"/>
            <a:tailEnd type="triangle"/>
          </a:ln>
        </p:spPr>
      </p:sp>
      <p:sp>
        <p:nvSpPr>
          <p:cNvPr id="17" name="Solution card"/>
          <p:cNvSpPr/>
          <p:nvPr/>
        </p:nvSpPr>
        <p:spPr>
          <a:xfrm>
            <a:off x="2633472" y="1828800"/>
            <a:ext cx="2011680" cy="24688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2798064" y="1993392"/>
            <a:ext cx="548640" cy="548640"/>
          </a:xfrm>
          <a:prstGeom prst="ellipse">
            <a:avLst/>
          </a:prstGeom>
          <a:solidFill>
            <a:srgbClr val="1FB36B"/>
          </a:solidFill>
          <a:ln w="12700">
            <a:solidFill>
              <a:srgbClr val="1FB36B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7792" y="2103120"/>
            <a:ext cx="329184" cy="32918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3419856" y="1993392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</a:rPr>
              <a:t>Solution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2816352" y="265176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</a:rPr>
              <a:t>Clean &amp; standardize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</a:rPr>
              <a:t>Star-schema data model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</a:rPr>
              <a:t>DAX measures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</a:rPr>
              <a:t>Validated vs. source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4672584" y="3063240"/>
            <a:ext cx="201168" cy="0"/>
          </a:xfrm>
          <a:prstGeom prst="line">
            <a:avLst/>
          </a:prstGeom>
          <a:noFill/>
          <a:ln w="25400">
            <a:solidFill>
              <a:srgbClr val="6D4AFF"/>
            </a:solidFill>
            <a:prstDash val="solid"/>
            <a:tailEnd type="triangle"/>
          </a:ln>
        </p:spPr>
      </p:sp>
      <p:sp>
        <p:nvSpPr>
          <p:cNvPr id="23" name="Core Features card"/>
          <p:cNvSpPr/>
          <p:nvPr/>
        </p:nvSpPr>
        <p:spPr>
          <a:xfrm>
            <a:off x="4901184" y="1828800"/>
            <a:ext cx="2194560" cy="24688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5065776" y="1993392"/>
            <a:ext cx="548640" cy="548640"/>
          </a:xfrm>
          <a:prstGeom prst="ellipse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5504" y="2103120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687568" y="199339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</a:rPr>
              <a:t>Core Features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5084064" y="2651760"/>
            <a:ext cx="1874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</a:rPr>
              <a:t>Country overview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</a:rPr>
              <a:t>Side-by-side comparison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</a:rPr>
              <a:t>Trends over time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</a:rPr>
              <a:t>Map &amp; drill-through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7123176" y="3063240"/>
            <a:ext cx="201168" cy="0"/>
          </a:xfrm>
          <a:prstGeom prst="line">
            <a:avLst/>
          </a:prstGeom>
          <a:noFill/>
          <a:ln w="25400">
            <a:solidFill>
              <a:srgbClr val="6D4AFF"/>
            </a:solidFill>
            <a:prstDash val="solid"/>
            <a:tailEnd type="triangle"/>
          </a:ln>
        </p:spPr>
      </p:sp>
      <p:sp>
        <p:nvSpPr>
          <p:cNvPr id="29" name="Data Flow card"/>
          <p:cNvSpPr/>
          <p:nvPr/>
        </p:nvSpPr>
        <p:spPr>
          <a:xfrm>
            <a:off x="7351776" y="1828800"/>
            <a:ext cx="2651760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7516368" y="1993392"/>
            <a:ext cx="548640" cy="54864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6096" y="2103120"/>
            <a:ext cx="329184" cy="32918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138160" y="199339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</a:rPr>
              <a:t>Data Flow</a:t>
            </a:r>
            <a:endParaRPr lang="en-US" sz="1400" dirty="0"/>
          </a:p>
        </p:txBody>
      </p:sp>
      <p:sp>
        <p:nvSpPr>
          <p:cNvPr id="33" name="Shape 24"/>
          <p:cNvSpPr/>
          <p:nvPr/>
        </p:nvSpPr>
        <p:spPr>
          <a:xfrm>
            <a:off x="7580376" y="2651760"/>
            <a:ext cx="2194560" cy="246888"/>
          </a:xfrm>
          <a:prstGeom prst="roundRect">
            <a:avLst>
              <a:gd name="adj" fmla="val 29630"/>
            </a:avLst>
          </a:prstGeom>
          <a:solidFill>
            <a:srgbClr val="E3F7FB"/>
          </a:solidFill>
          <a:ln w="9525">
            <a:solidFill>
              <a:srgbClr val="00B8D9"/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7580376" y="265176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A5B"/>
                </a:solidFill>
              </a:rPr>
              <a:t>WDI_Data.xlsx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8677656" y="2898648"/>
            <a:ext cx="0" cy="91440"/>
          </a:xfrm>
          <a:prstGeom prst="line">
            <a:avLst/>
          </a:prstGeom>
          <a:noFill/>
          <a:ln w="15875">
            <a:solidFill>
              <a:srgbClr val="00B8D9"/>
            </a:solidFill>
            <a:prstDash val="solid"/>
            <a:tailEnd type="triangle"/>
          </a:ln>
        </p:spPr>
      </p:sp>
      <p:sp>
        <p:nvSpPr>
          <p:cNvPr id="36" name="Shape 27"/>
          <p:cNvSpPr/>
          <p:nvPr/>
        </p:nvSpPr>
        <p:spPr>
          <a:xfrm>
            <a:off x="7580376" y="2990088"/>
            <a:ext cx="2194560" cy="246888"/>
          </a:xfrm>
          <a:prstGeom prst="roundRect">
            <a:avLst>
              <a:gd name="adj" fmla="val 29630"/>
            </a:avLst>
          </a:prstGeom>
          <a:solidFill>
            <a:srgbClr val="F1F5FB"/>
          </a:solidFill>
          <a:ln w="9525">
            <a:solidFill>
              <a:srgbClr val="00B8D9"/>
            </a:solidFill>
            <a:prstDash val="solid"/>
          </a:ln>
        </p:spPr>
      </p:sp>
      <p:sp>
        <p:nvSpPr>
          <p:cNvPr id="37" name="Text 28"/>
          <p:cNvSpPr txBox="1"/>
          <p:nvPr/>
        </p:nvSpPr>
        <p:spPr>
          <a:xfrm>
            <a:off x="7580376" y="299008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A5B"/>
                </a:solidFill>
              </a:rPr>
              <a:t>Power Query cleaning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8677656" y="3236976"/>
            <a:ext cx="0" cy="91440"/>
          </a:xfrm>
          <a:prstGeom prst="line">
            <a:avLst/>
          </a:prstGeom>
          <a:noFill/>
          <a:ln w="15875">
            <a:solidFill>
              <a:srgbClr val="00B8D9"/>
            </a:solidFill>
            <a:prstDash val="solid"/>
            <a:tailEnd type="triangle"/>
          </a:ln>
        </p:spPr>
      </p:sp>
      <p:sp>
        <p:nvSpPr>
          <p:cNvPr id="39" name="Shape 30"/>
          <p:cNvSpPr/>
          <p:nvPr/>
        </p:nvSpPr>
        <p:spPr>
          <a:xfrm>
            <a:off x="7580376" y="3328416"/>
            <a:ext cx="2194560" cy="246888"/>
          </a:xfrm>
          <a:prstGeom prst="roundRect">
            <a:avLst>
              <a:gd name="adj" fmla="val 29630"/>
            </a:avLst>
          </a:prstGeom>
          <a:solidFill>
            <a:srgbClr val="F1F5FB"/>
          </a:solidFill>
          <a:ln w="9525">
            <a:solidFill>
              <a:srgbClr val="00B8D9"/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7580376" y="3328416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A5B"/>
                </a:solidFill>
              </a:rPr>
              <a:t>Data model + DAX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8677656" y="3575304"/>
            <a:ext cx="0" cy="91440"/>
          </a:xfrm>
          <a:prstGeom prst="line">
            <a:avLst/>
          </a:prstGeom>
          <a:noFill/>
          <a:ln w="15875">
            <a:solidFill>
              <a:srgbClr val="00B8D9"/>
            </a:solidFill>
            <a:prstDash val="solid"/>
            <a:tailEnd type="triangle"/>
          </a:ln>
        </p:spPr>
      </p:sp>
      <p:sp>
        <p:nvSpPr>
          <p:cNvPr id="42" name="Shape 33"/>
          <p:cNvSpPr/>
          <p:nvPr/>
        </p:nvSpPr>
        <p:spPr>
          <a:xfrm>
            <a:off x="7580376" y="3666744"/>
            <a:ext cx="2194560" cy="246888"/>
          </a:xfrm>
          <a:prstGeom prst="roundRect">
            <a:avLst>
              <a:gd name="adj" fmla="val 29630"/>
            </a:avLst>
          </a:prstGeom>
          <a:solidFill>
            <a:srgbClr val="EDE8FF"/>
          </a:solidFill>
          <a:ln w="9525">
            <a:solidFill>
              <a:srgbClr val="6D4AFF"/>
            </a:solidFill>
            <a:prstDash val="solid"/>
          </a:ln>
        </p:spPr>
      </p:sp>
      <p:sp>
        <p:nvSpPr>
          <p:cNvPr id="43" name="Text 34"/>
          <p:cNvSpPr txBox="1"/>
          <p:nvPr/>
        </p:nvSpPr>
        <p:spPr>
          <a:xfrm>
            <a:off x="7580376" y="36667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A5B"/>
                </a:solidFill>
              </a:rPr>
              <a:t>Power BI dashboard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8677656" y="3913632"/>
            <a:ext cx="0" cy="91440"/>
          </a:xfrm>
          <a:prstGeom prst="line">
            <a:avLst/>
          </a:prstGeom>
          <a:noFill/>
          <a:ln w="15875">
            <a:solidFill>
              <a:srgbClr val="00B8D9"/>
            </a:solidFill>
            <a:prstDash val="solid"/>
            <a:tailEnd type="triangle"/>
          </a:ln>
        </p:spPr>
      </p:sp>
      <p:sp>
        <p:nvSpPr>
          <p:cNvPr id="45" name="Shape 36"/>
          <p:cNvSpPr/>
          <p:nvPr/>
        </p:nvSpPr>
        <p:spPr>
          <a:xfrm>
            <a:off x="7580376" y="4005072"/>
            <a:ext cx="2194560" cy="246888"/>
          </a:xfrm>
          <a:prstGeom prst="roundRect">
            <a:avLst>
              <a:gd name="adj" fmla="val 29630"/>
            </a:avLst>
          </a:prstGeom>
          <a:solidFill>
            <a:srgbClr val="F1F5FB"/>
          </a:solidFill>
          <a:ln w="9525">
            <a:solidFill>
              <a:srgbClr val="00B8D9"/>
            </a:solidFill>
            <a:prstDash val="solid"/>
          </a:ln>
        </p:spPr>
      </p:sp>
      <p:sp>
        <p:nvSpPr>
          <p:cNvPr id="46" name="Text 37"/>
          <p:cNvSpPr txBox="1"/>
          <p:nvPr/>
        </p:nvSpPr>
        <p:spPr>
          <a:xfrm>
            <a:off x="7580376" y="4005072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A5B"/>
                </a:solidFill>
              </a:rPr>
              <a:t>GitHub delivery</a:t>
            </a:r>
            <a:endParaRPr lang="en-US" sz="1050" dirty="0"/>
          </a:p>
        </p:txBody>
      </p:sp>
      <p:sp>
        <p:nvSpPr>
          <p:cNvPr id="47" name="Shape 38"/>
          <p:cNvSpPr/>
          <p:nvPr/>
        </p:nvSpPr>
        <p:spPr>
          <a:xfrm>
            <a:off x="10030968" y="3063240"/>
            <a:ext cx="201168" cy="0"/>
          </a:xfrm>
          <a:prstGeom prst="line">
            <a:avLst/>
          </a:prstGeom>
          <a:noFill/>
          <a:ln w="25400">
            <a:solidFill>
              <a:srgbClr val="6D4AFF"/>
            </a:solidFill>
            <a:prstDash val="solid"/>
            <a:tailEnd type="triangle"/>
          </a:ln>
        </p:spPr>
      </p:sp>
      <p:sp>
        <p:nvSpPr>
          <p:cNvPr id="48" name="Tech Stack card"/>
          <p:cNvSpPr/>
          <p:nvPr/>
        </p:nvSpPr>
        <p:spPr>
          <a:xfrm>
            <a:off x="10259568" y="1828800"/>
            <a:ext cx="1554480" cy="24688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10424160" y="1993392"/>
            <a:ext cx="548640" cy="548640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33888" y="2103120"/>
            <a:ext cx="329184" cy="329184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11045952" y="1993392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</a:rPr>
              <a:t>Tech Stack</a:t>
            </a:r>
            <a:endParaRPr lang="en-US" sz="1400" dirty="0"/>
          </a:p>
        </p:txBody>
      </p:sp>
      <p:sp>
        <p:nvSpPr>
          <p:cNvPr id="52" name="Shape 42"/>
          <p:cNvSpPr/>
          <p:nvPr/>
        </p:nvSpPr>
        <p:spPr>
          <a:xfrm>
            <a:off x="10442448" y="2651760"/>
            <a:ext cx="1188720" cy="246888"/>
          </a:xfrm>
          <a:prstGeom prst="roundRect">
            <a:avLst>
              <a:gd name="adj" fmla="val 48148"/>
            </a:avLst>
          </a:prstGeom>
          <a:solidFill>
            <a:srgbClr val="0B2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43"/>
          <p:cNvSpPr txBox="1"/>
          <p:nvPr/>
        </p:nvSpPr>
        <p:spPr>
          <a:xfrm>
            <a:off x="10442448" y="265176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Power BI</a:t>
            </a:r>
            <a:endParaRPr lang="en-US" sz="1050" dirty="0"/>
          </a:p>
        </p:txBody>
      </p:sp>
      <p:sp>
        <p:nvSpPr>
          <p:cNvPr id="54" name="Shape 44"/>
          <p:cNvSpPr/>
          <p:nvPr/>
        </p:nvSpPr>
        <p:spPr>
          <a:xfrm>
            <a:off x="10442448" y="2948940"/>
            <a:ext cx="1188720" cy="246888"/>
          </a:xfrm>
          <a:prstGeom prst="roundRect">
            <a:avLst>
              <a:gd name="adj" fmla="val 48148"/>
            </a:avLst>
          </a:prstGeom>
          <a:solidFill>
            <a:srgbClr val="6D4A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45"/>
          <p:cNvSpPr txBox="1"/>
          <p:nvPr/>
        </p:nvSpPr>
        <p:spPr>
          <a:xfrm>
            <a:off x="10442448" y="294894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Power Query</a:t>
            </a:r>
            <a:endParaRPr lang="en-US" sz="1050" dirty="0"/>
          </a:p>
        </p:txBody>
      </p:sp>
      <p:sp>
        <p:nvSpPr>
          <p:cNvPr id="56" name="Shape 46"/>
          <p:cNvSpPr/>
          <p:nvPr/>
        </p:nvSpPr>
        <p:spPr>
          <a:xfrm>
            <a:off x="10442448" y="3246120"/>
            <a:ext cx="1188720" cy="246888"/>
          </a:xfrm>
          <a:prstGeom prst="roundRect">
            <a:avLst>
              <a:gd name="adj" fmla="val 48148"/>
            </a:avLst>
          </a:prstGeom>
          <a:solidFill>
            <a:srgbClr val="00B8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47"/>
          <p:cNvSpPr txBox="1"/>
          <p:nvPr/>
        </p:nvSpPr>
        <p:spPr>
          <a:xfrm>
            <a:off x="10442448" y="324612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DAX</a:t>
            </a:r>
            <a:endParaRPr lang="en-US" sz="1050" dirty="0"/>
          </a:p>
        </p:txBody>
      </p:sp>
      <p:sp>
        <p:nvSpPr>
          <p:cNvPr id="58" name="Shape 48"/>
          <p:cNvSpPr/>
          <p:nvPr/>
        </p:nvSpPr>
        <p:spPr>
          <a:xfrm>
            <a:off x="10442448" y="3543300"/>
            <a:ext cx="1188720" cy="246888"/>
          </a:xfrm>
          <a:prstGeom prst="roundRect">
            <a:avLst>
              <a:gd name="adj" fmla="val 48148"/>
            </a:avLst>
          </a:prstGeom>
          <a:solidFill>
            <a:srgbClr val="1FB3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49"/>
          <p:cNvSpPr txBox="1"/>
          <p:nvPr/>
        </p:nvSpPr>
        <p:spPr>
          <a:xfrm>
            <a:off x="10442448" y="354330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Excel</a:t>
            </a:r>
            <a:endParaRPr lang="en-US" sz="1050" dirty="0"/>
          </a:p>
        </p:txBody>
      </p:sp>
      <p:sp>
        <p:nvSpPr>
          <p:cNvPr id="60" name="Shape 50"/>
          <p:cNvSpPr/>
          <p:nvPr/>
        </p:nvSpPr>
        <p:spPr>
          <a:xfrm>
            <a:off x="10442448" y="3840480"/>
            <a:ext cx="1188720" cy="246888"/>
          </a:xfrm>
          <a:prstGeom prst="roundRect">
            <a:avLst>
              <a:gd name="adj" fmla="val 48148"/>
            </a:avLst>
          </a:prstGeom>
          <a:solidFill>
            <a:srgbClr val="FF8A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1"/>
          <p:cNvSpPr txBox="1"/>
          <p:nvPr/>
        </p:nvSpPr>
        <p:spPr>
          <a:xfrm>
            <a:off x="10442448" y="384048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GitHub</a:t>
            </a:r>
            <a:endParaRPr lang="en-US" sz="1050" dirty="0"/>
          </a:p>
        </p:txBody>
      </p:sp>
      <p:sp>
        <p:nvSpPr>
          <p:cNvPr id="62" name="Text 52"/>
          <p:cNvSpPr txBox="1"/>
          <p:nvPr/>
        </p:nvSpPr>
        <p:spPr>
          <a:xfrm>
            <a:off x="365760" y="4526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5B"/>
                </a:solidFill>
              </a:rPr>
              <a:t>Development Timeline</a:t>
            </a:r>
            <a:endParaRPr lang="en-US" sz="1300" dirty="0"/>
          </a:p>
        </p:txBody>
      </p:sp>
      <p:sp>
        <p:nvSpPr>
          <p:cNvPr id="63" name="Shape 53"/>
          <p:cNvSpPr/>
          <p:nvPr/>
        </p:nvSpPr>
        <p:spPr>
          <a:xfrm>
            <a:off x="1184148" y="5093208"/>
            <a:ext cx="9820656" cy="0"/>
          </a:xfrm>
          <a:prstGeom prst="line">
            <a:avLst/>
          </a:prstGeom>
          <a:noFill/>
          <a:ln w="31750">
            <a:solidFill>
              <a:srgbClr val="B9C6DB"/>
            </a:solidFill>
            <a:prstDash val="solid"/>
          </a:ln>
        </p:spPr>
      </p:sp>
      <p:sp>
        <p:nvSpPr>
          <p:cNvPr id="64" name="Shape 54"/>
          <p:cNvSpPr/>
          <p:nvPr/>
        </p:nvSpPr>
        <p:spPr>
          <a:xfrm>
            <a:off x="1001268" y="4910328"/>
            <a:ext cx="365760" cy="365760"/>
          </a:xfrm>
          <a:prstGeom prst="ellipse">
            <a:avLst/>
          </a:prstGeom>
          <a:solidFill>
            <a:srgbClr val="FF8A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5" name="Text 55"/>
          <p:cNvSpPr txBox="1"/>
          <p:nvPr/>
        </p:nvSpPr>
        <p:spPr>
          <a:xfrm>
            <a:off x="1001268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6" name="Text 56"/>
          <p:cNvSpPr txBox="1"/>
          <p:nvPr/>
        </p:nvSpPr>
        <p:spPr>
          <a:xfrm>
            <a:off x="411480" y="5340096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</a:rPr>
              <a:t>Team Formation &amp; Planning</a:t>
            </a:r>
            <a:endParaRPr lang="en-US" sz="105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8A00"/>
                </a:solidFill>
              </a:rPr>
              <a:t>Week 5</a:t>
            </a:r>
            <a:endParaRPr lang="en-US" sz="1050" dirty="0"/>
          </a:p>
        </p:txBody>
      </p:sp>
      <p:sp>
        <p:nvSpPr>
          <p:cNvPr id="67" name="Shape 57"/>
          <p:cNvSpPr/>
          <p:nvPr/>
        </p:nvSpPr>
        <p:spPr>
          <a:xfrm>
            <a:off x="2638044" y="4910328"/>
            <a:ext cx="365760" cy="365760"/>
          </a:xfrm>
          <a:prstGeom prst="ellipse">
            <a:avLst/>
          </a:prstGeom>
          <a:solidFill>
            <a:srgbClr val="8E5CF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8" name="Text 58"/>
          <p:cNvSpPr txBox="1"/>
          <p:nvPr/>
        </p:nvSpPr>
        <p:spPr>
          <a:xfrm>
            <a:off x="2638044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69" name="Text 59"/>
          <p:cNvSpPr txBox="1"/>
          <p:nvPr/>
        </p:nvSpPr>
        <p:spPr>
          <a:xfrm>
            <a:off x="2048256" y="5340096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</a:rPr>
              <a:t>Instructor Review</a:t>
            </a:r>
            <a:endParaRPr lang="en-US" sz="105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E5CF0"/>
                </a:solidFill>
              </a:rPr>
              <a:t>Week 7</a:t>
            </a:r>
            <a:endParaRPr lang="en-US" sz="1050" dirty="0"/>
          </a:p>
        </p:txBody>
      </p:sp>
      <p:sp>
        <p:nvSpPr>
          <p:cNvPr id="70" name="Shape 60"/>
          <p:cNvSpPr/>
          <p:nvPr/>
        </p:nvSpPr>
        <p:spPr>
          <a:xfrm>
            <a:off x="4274820" y="4910328"/>
            <a:ext cx="365760" cy="365760"/>
          </a:xfrm>
          <a:prstGeom prst="ellipse">
            <a:avLst/>
          </a:prstGeom>
          <a:solidFill>
            <a:srgbClr val="6D4A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1" name="Text 61"/>
          <p:cNvSpPr txBox="1"/>
          <p:nvPr/>
        </p:nvSpPr>
        <p:spPr>
          <a:xfrm>
            <a:off x="427482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72" name="Text 62"/>
          <p:cNvSpPr txBox="1"/>
          <p:nvPr/>
        </p:nvSpPr>
        <p:spPr>
          <a:xfrm>
            <a:off x="3685032" y="5340096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</a:rPr>
              <a:t>Gathering Requirements</a:t>
            </a:r>
            <a:endParaRPr lang="en-US" sz="105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D4AFF"/>
                </a:solidFill>
              </a:rPr>
              <a:t>Weeks 9–10</a:t>
            </a:r>
            <a:endParaRPr lang="en-US" sz="1050" dirty="0"/>
          </a:p>
        </p:txBody>
      </p:sp>
      <p:sp>
        <p:nvSpPr>
          <p:cNvPr id="73" name="Shape 63"/>
          <p:cNvSpPr/>
          <p:nvPr/>
        </p:nvSpPr>
        <p:spPr>
          <a:xfrm>
            <a:off x="5911596" y="4910328"/>
            <a:ext cx="365760" cy="365760"/>
          </a:xfrm>
          <a:prstGeom prst="ellipse">
            <a:avLst/>
          </a:prstGeom>
          <a:solidFill>
            <a:srgbClr val="3F57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4" name="Text 64"/>
          <p:cNvSpPr txBox="1"/>
          <p:nvPr/>
        </p:nvSpPr>
        <p:spPr>
          <a:xfrm>
            <a:off x="5911596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75" name="Text 65"/>
          <p:cNvSpPr txBox="1"/>
          <p:nvPr/>
        </p:nvSpPr>
        <p:spPr>
          <a:xfrm>
            <a:off x="5321808" y="5340096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</a:rPr>
              <a:t>Analysis &amp; Design</a:t>
            </a:r>
            <a:endParaRPr lang="en-US" sz="105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F57D6"/>
                </a:solidFill>
              </a:rPr>
              <a:t>From Week 12</a:t>
            </a:r>
            <a:endParaRPr lang="en-US" sz="1050" dirty="0"/>
          </a:p>
        </p:txBody>
      </p:sp>
      <p:sp>
        <p:nvSpPr>
          <p:cNvPr id="76" name="Shape 66"/>
          <p:cNvSpPr/>
          <p:nvPr/>
        </p:nvSpPr>
        <p:spPr>
          <a:xfrm>
            <a:off x="7548372" y="4910328"/>
            <a:ext cx="365760" cy="365760"/>
          </a:xfrm>
          <a:prstGeom prst="ellipse">
            <a:avLst/>
          </a:prstGeom>
          <a:solidFill>
            <a:srgbClr val="2A8FD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7" name="Text 67"/>
          <p:cNvSpPr txBox="1"/>
          <p:nvPr/>
        </p:nvSpPr>
        <p:spPr>
          <a:xfrm>
            <a:off x="7548372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78" name="Text 68"/>
          <p:cNvSpPr txBox="1"/>
          <p:nvPr/>
        </p:nvSpPr>
        <p:spPr>
          <a:xfrm>
            <a:off x="6958584" y="5340096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</a:rPr>
              <a:t>Implementation</a:t>
            </a:r>
            <a:endParaRPr lang="en-US" sz="1050" dirty="0"/>
          </a:p>
        </p:txBody>
      </p:sp>
      <p:sp>
        <p:nvSpPr>
          <p:cNvPr id="79" name="Shape 69"/>
          <p:cNvSpPr/>
          <p:nvPr/>
        </p:nvSpPr>
        <p:spPr>
          <a:xfrm>
            <a:off x="9185148" y="4910328"/>
            <a:ext cx="365760" cy="365760"/>
          </a:xfrm>
          <a:prstGeom prst="ellipse">
            <a:avLst/>
          </a:prstGeom>
          <a:solidFill>
            <a:srgbClr val="00B8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0" name="Text 70"/>
          <p:cNvSpPr txBox="1"/>
          <p:nvPr/>
        </p:nvSpPr>
        <p:spPr>
          <a:xfrm>
            <a:off x="9185148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81" name="Text 71"/>
          <p:cNvSpPr txBox="1"/>
          <p:nvPr/>
        </p:nvSpPr>
        <p:spPr>
          <a:xfrm>
            <a:off x="8595360" y="5340096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</a:rPr>
              <a:t>Testing</a:t>
            </a:r>
            <a:endParaRPr lang="en-US" sz="1050" dirty="0"/>
          </a:p>
        </p:txBody>
      </p:sp>
      <p:sp>
        <p:nvSpPr>
          <p:cNvPr id="82" name="Shape 72"/>
          <p:cNvSpPr/>
          <p:nvPr/>
        </p:nvSpPr>
        <p:spPr>
          <a:xfrm>
            <a:off x="10821924" y="4910328"/>
            <a:ext cx="365760" cy="365760"/>
          </a:xfrm>
          <a:prstGeom prst="ellipse">
            <a:avLst/>
          </a:prstGeom>
          <a:solidFill>
            <a:srgbClr val="1FB3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3" name="Text 73"/>
          <p:cNvSpPr txBox="1"/>
          <p:nvPr/>
        </p:nvSpPr>
        <p:spPr>
          <a:xfrm>
            <a:off x="10821924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84" name="Text 74"/>
          <p:cNvSpPr txBox="1"/>
          <p:nvPr/>
        </p:nvSpPr>
        <p:spPr>
          <a:xfrm>
            <a:off x="10232136" y="5340096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</a:rPr>
              <a:t>Release &amp; Final Presentation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B36B"/>
                </a:solidFill>
              </a:rPr>
              <a:t>Week 21</a:t>
            </a:r>
            <a:endParaRPr lang="en-US" sz="1050" dirty="0"/>
          </a:p>
        </p:txBody>
      </p:sp>
      <p:sp>
        <p:nvSpPr>
          <p:cNvPr id="85" name="Shape 75"/>
          <p:cNvSpPr/>
          <p:nvPr/>
        </p:nvSpPr>
        <p:spPr>
          <a:xfrm>
            <a:off x="365760" y="5943600"/>
            <a:ext cx="11457432" cy="731520"/>
          </a:xfrm>
          <a:prstGeom prst="roundRect">
            <a:avLst>
              <a:gd name="adj" fmla="val 17500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86" name="Text 76"/>
          <p:cNvSpPr txBox="1"/>
          <p:nvPr/>
        </p:nvSpPr>
        <p:spPr>
          <a:xfrm>
            <a:off x="502920" y="59436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Project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Outcomes</a:t>
            </a:r>
            <a:endParaRPr lang="en-US" sz="1300" dirty="0"/>
          </a:p>
        </p:txBody>
      </p:sp>
      <p:pic>
        <p:nvPicPr>
          <p:cNvPr id="8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09928" y="6190488"/>
            <a:ext cx="237744" cy="237744"/>
          </a:xfrm>
          <a:prstGeom prst="rect">
            <a:avLst/>
          </a:prstGeom>
        </p:spPr>
      </p:pic>
      <p:sp>
        <p:nvSpPr>
          <p:cNvPr id="88" name="Text 77"/>
          <p:cNvSpPr txBox="1"/>
          <p:nvPr/>
        </p:nvSpPr>
        <p:spPr>
          <a:xfrm>
            <a:off x="1993392" y="5989320"/>
            <a:ext cx="8549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Clean Dataset</a:t>
            </a:r>
            <a:endParaRPr lang="en-US" sz="1050" dirty="0"/>
          </a:p>
        </p:txBody>
      </p:sp>
      <p:pic>
        <p:nvPicPr>
          <p:cNvPr id="8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30652" y="6190488"/>
            <a:ext cx="237744" cy="237744"/>
          </a:xfrm>
          <a:prstGeom prst="rect">
            <a:avLst/>
          </a:prstGeom>
        </p:spPr>
      </p:pic>
      <p:sp>
        <p:nvSpPr>
          <p:cNvPr id="90" name="Text 78"/>
          <p:cNvSpPr txBox="1"/>
          <p:nvPr/>
        </p:nvSpPr>
        <p:spPr>
          <a:xfrm>
            <a:off x="3214116" y="5989320"/>
            <a:ext cx="8549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Power BI Dashboard</a:t>
            </a:r>
            <a:endParaRPr lang="en-US" sz="1050" dirty="0"/>
          </a:p>
        </p:txBody>
      </p:sp>
      <p:pic>
        <p:nvPicPr>
          <p:cNvPr id="9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51376" y="6190488"/>
            <a:ext cx="237744" cy="237744"/>
          </a:xfrm>
          <a:prstGeom prst="rect">
            <a:avLst/>
          </a:prstGeom>
        </p:spPr>
      </p:pic>
      <p:sp>
        <p:nvSpPr>
          <p:cNvPr id="92" name="Text 79"/>
          <p:cNvSpPr txBox="1"/>
          <p:nvPr/>
        </p:nvSpPr>
        <p:spPr>
          <a:xfrm>
            <a:off x="4434840" y="5989320"/>
            <a:ext cx="8549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Test Cases &amp; Bug Report</a:t>
            </a:r>
            <a:endParaRPr lang="en-US" sz="1050" dirty="0"/>
          </a:p>
        </p:txBody>
      </p:sp>
      <p:pic>
        <p:nvPicPr>
          <p:cNvPr id="9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72100" y="6190488"/>
            <a:ext cx="237744" cy="237744"/>
          </a:xfrm>
          <a:prstGeom prst="rect">
            <a:avLst/>
          </a:prstGeom>
        </p:spPr>
      </p:pic>
      <p:sp>
        <p:nvSpPr>
          <p:cNvPr id="94" name="Text 80"/>
          <p:cNvSpPr txBox="1"/>
          <p:nvPr/>
        </p:nvSpPr>
        <p:spPr>
          <a:xfrm>
            <a:off x="5655564" y="5989320"/>
            <a:ext cx="8549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User Manual</a:t>
            </a:r>
            <a:endParaRPr lang="en-US" sz="1050" dirty="0"/>
          </a:p>
        </p:txBody>
      </p:sp>
      <p:pic>
        <p:nvPicPr>
          <p:cNvPr id="9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92824" y="6190488"/>
            <a:ext cx="237744" cy="237744"/>
          </a:xfrm>
          <a:prstGeom prst="rect">
            <a:avLst/>
          </a:prstGeom>
        </p:spPr>
      </p:pic>
      <p:sp>
        <p:nvSpPr>
          <p:cNvPr id="96" name="Text 81"/>
          <p:cNvSpPr txBox="1"/>
          <p:nvPr/>
        </p:nvSpPr>
        <p:spPr>
          <a:xfrm>
            <a:off x="6876288" y="5989320"/>
            <a:ext cx="8549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Technical Documentation</a:t>
            </a:r>
            <a:endParaRPr lang="en-US" sz="1050" dirty="0"/>
          </a:p>
        </p:txBody>
      </p:sp>
      <p:pic>
        <p:nvPicPr>
          <p:cNvPr id="9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13548" y="6190488"/>
            <a:ext cx="237744" cy="237744"/>
          </a:xfrm>
          <a:prstGeom prst="rect">
            <a:avLst/>
          </a:prstGeom>
        </p:spPr>
      </p:pic>
      <p:sp>
        <p:nvSpPr>
          <p:cNvPr id="98" name="Text 82"/>
          <p:cNvSpPr txBox="1"/>
          <p:nvPr/>
        </p:nvSpPr>
        <p:spPr>
          <a:xfrm>
            <a:off x="8097012" y="5989320"/>
            <a:ext cx="8549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Final Presentation</a:t>
            </a:r>
            <a:endParaRPr lang="en-US" sz="1050" dirty="0"/>
          </a:p>
        </p:txBody>
      </p:sp>
      <p:pic>
        <p:nvPicPr>
          <p:cNvPr id="9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34272" y="6190488"/>
            <a:ext cx="237744" cy="237744"/>
          </a:xfrm>
          <a:prstGeom prst="rect">
            <a:avLst/>
          </a:prstGeom>
        </p:spPr>
      </p:pic>
      <p:sp>
        <p:nvSpPr>
          <p:cNvPr id="100" name="Text 83"/>
          <p:cNvSpPr txBox="1"/>
          <p:nvPr/>
        </p:nvSpPr>
        <p:spPr>
          <a:xfrm>
            <a:off x="9317736" y="5989320"/>
            <a:ext cx="8549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Project Infographic</a:t>
            </a:r>
            <a:endParaRPr lang="en-US" sz="1050" dirty="0"/>
          </a:p>
        </p:txBody>
      </p:sp>
      <p:pic>
        <p:nvPicPr>
          <p:cNvPr id="10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54996" y="6190488"/>
            <a:ext cx="237744" cy="237744"/>
          </a:xfrm>
          <a:prstGeom prst="rect">
            <a:avLst/>
          </a:prstGeom>
        </p:spPr>
      </p:pic>
      <p:sp>
        <p:nvSpPr>
          <p:cNvPr id="102" name="Text 84"/>
          <p:cNvSpPr txBox="1"/>
          <p:nvPr/>
        </p:nvSpPr>
        <p:spPr>
          <a:xfrm>
            <a:off x="10538460" y="5989320"/>
            <a:ext cx="8549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GitHub Repository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Lens – Project Infographic</dc:title>
  <dc:subject>PptxGenJS Presentation</dc:subject>
  <dc:creator>Data Lens Team</dc:creator>
  <cp:lastModifiedBy>Data Lens Team</cp:lastModifiedBy>
  <cp:revision>1</cp:revision>
  <dcterms:created xsi:type="dcterms:W3CDTF">2026-10-31T20:27:23Z</dcterms:created>
  <dcterms:modified xsi:type="dcterms:W3CDTF">2026-10-31T20:27:23Z</dcterms:modified>
</cp:coreProperties>
</file>