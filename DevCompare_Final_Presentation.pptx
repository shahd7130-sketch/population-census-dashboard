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A3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F1A3A"/>
                </a:solidFill>
                <a:latin typeface="Arial"/>
              </a:rPr>
              <a:t>Share of cells per country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%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Brazil</c:v>
                  </c:pt>
                  <c:pt idx="1">
                    <c:v>India</c:v>
                  </c:pt>
                  <c:pt idx="2">
                    <c:v>Nigeria</c:v>
                  </c:pt>
                  <c:pt idx="3">
                    <c:v>Turkiye</c:v>
                  </c:pt>
                  <c:pt idx="4">
                    <c:v>Egypt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94.9</c:v>
                </c:pt>
                <c:pt idx="1">
                  <c:v>94.7</c:v>
                </c:pt>
                <c:pt idx="2">
                  <c:v>93.1</c:v>
                </c:pt>
                <c:pt idx="3">
                  <c:v>94.7</c:v>
                </c:pt>
                <c:pt idx="4">
                  <c:v>71.7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Interpolated %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Brazil</c:v>
                  </c:pt>
                  <c:pt idx="1">
                    <c:v>India</c:v>
                  </c:pt>
                  <c:pt idx="2">
                    <c:v>Nigeria</c:v>
                  </c:pt>
                  <c:pt idx="3">
                    <c:v>Turkiye</c:v>
                  </c:pt>
                  <c:pt idx="4">
                    <c:v>Egypt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3.9</c:v>
                </c:pt>
                <c:pt idx="1">
                  <c:v>3.9</c:v>
                </c:pt>
                <c:pt idx="2">
                  <c:v>3.9</c:v>
                </c:pt>
                <c:pt idx="3">
                  <c:v>3.9</c:v>
                </c:pt>
                <c:pt idx="4">
                  <c:v>26.9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Missing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Brazil</c:v>
                  </c:pt>
                  <c:pt idx="1">
                    <c:v>India</c:v>
                  </c:pt>
                  <c:pt idx="2">
                    <c:v>Nigeria</c:v>
                  </c:pt>
                  <c:pt idx="3">
                    <c:v>Turkiye</c:v>
                  </c:pt>
                  <c:pt idx="4">
                    <c:v>Egypt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1.2</c:v>
                </c:pt>
                <c:pt idx="1">
                  <c:v>1.4</c:v>
                </c:pt>
                <c:pt idx="2">
                  <c:v>3</c:v>
                </c:pt>
                <c:pt idx="3">
                  <c:v>1.4</c:v>
                </c:pt>
                <c:pt idx="4">
                  <c:v>1.4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A3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F1A3A"/>
                </a:solidFill>
                <a:latin typeface="Arial"/>
              </a:rPr>
              <a:t>Development Score (0–100, relative)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Development Score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Turkiye</c:v>
                  </c:pt>
                  <c:pt idx="1">
                    <c:v>Brazil</c:v>
                  </c:pt>
                  <c:pt idx="2">
                    <c:v>Egypt</c:v>
                  </c:pt>
                  <c:pt idx="3">
                    <c:v>India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83.3</c:v>
                </c:pt>
                <c:pt idx="1">
                  <c:v>76.1</c:v>
                </c:pt>
                <c:pt idx="2">
                  <c:v>52.4</c:v>
                </c:pt>
                <c:pt idx="3">
                  <c:v>50.1</c:v>
                </c:pt>
                <c:pt idx="4">
                  <c:v>16.7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A3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F1A3A"/>
                </a:solidFill>
                <a:latin typeface="Arial"/>
              </a:rPr>
              <a:t>CAGR 2000–2025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Brazil</c:v>
                  </c:pt>
                  <c:pt idx="1">
                    <c:v>Egypt</c:v>
                  </c:pt>
                  <c:pt idx="2">
                    <c:v>India</c:v>
                  </c:pt>
                  <c:pt idx="3">
                    <c:v>Nigeria</c:v>
                  </c:pt>
                  <c:pt idx="4">
                    <c:v>Turkiye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5.11</c:v>
                </c:pt>
                <c:pt idx="1">
                  <c:v>5.33</c:v>
                </c:pt>
                <c:pt idx="2">
                  <c:v>8.91</c:v>
                </c:pt>
                <c:pt idx="3">
                  <c:v>5.91</c:v>
                </c:pt>
                <c:pt idx="4">
                  <c:v>7.29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GDP per capita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Brazil</c:v>
                  </c:pt>
                  <c:pt idx="1">
                    <c:v>Egypt</c:v>
                  </c:pt>
                  <c:pt idx="2">
                    <c:v>India</c:v>
                  </c:pt>
                  <c:pt idx="3">
                    <c:v>Nigeria</c:v>
                  </c:pt>
                  <c:pt idx="4">
                    <c:v>Turkiye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4.27</c:v>
                </c:pt>
                <c:pt idx="1">
                  <c:v>3.31</c:v>
                </c:pt>
                <c:pt idx="2">
                  <c:v>7.5</c:v>
                </c:pt>
                <c:pt idx="3">
                  <c:v>3.27</c:v>
                </c:pt>
                <c:pt idx="4">
                  <c:v>6.13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1" Type="http://schemas.openxmlformats.org/officeDocument/2006/relationships/image" Target="../media/image-7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548640"/>
            <a:ext cx="1737360" cy="905256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home/claude/DevCompare/docs/assets/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94360"/>
            <a:ext cx="1645920" cy="8138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· Digital Egypt Pioneers Initiative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296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Data Analysis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DevCompare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development of Egypt, Nigeria, India, Brazil and Türkiye (2000–2025)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4572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Leader: Shahd Mahmoud Abdelmagid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Malak Hassan Mahmoud · Eman Ali Mostafa · Farah Khaled Fathy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Mariam Baher Mohsen · Menna AbdelNasser Ramadan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Nouran Elzeky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/home/claude/DevCompare/docs/assets/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28600"/>
            <a:ext cx="868680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828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project?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" y="649224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· Data Analysis · DevCompare   |   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481328"/>
            <a:ext cx="64008" cy="2706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463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1874520"/>
            <a:ext cx="3291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data lives in large Excel files with text markers for missing values and missing years (2009 is absent everywhere; Egypt lacks 2009–2015). Comparing countries by hand is slow and gaps can distort conclusions.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3400" y="137160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1481328"/>
            <a:ext cx="64008" cy="27066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0" y="1463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572000" y="1874520"/>
            <a:ext cx="3291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Python pipeline cleans and merges the data, analyses it, and publishes one interactive dashboard that clearly shows what is observed, interpolated and forecast.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38160" y="137160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138160" y="1481328"/>
            <a:ext cx="64008" cy="2706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676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366760" y="187452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countries, 19 indicators, 26 years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Rankings, growth, correlation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Relative Development Score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Trend forecast to 2030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command, ≈ 4 seconds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4663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20" name="Text 17"/>
          <p:cNvSpPr/>
          <p:nvPr/>
        </p:nvSpPr>
        <p:spPr>
          <a:xfrm>
            <a:off x="548640" y="5440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429000" y="4663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4400" dirty="0"/>
          </a:p>
        </p:txBody>
      </p:sp>
      <p:sp>
        <p:nvSpPr>
          <p:cNvPr id="22" name="Text 19"/>
          <p:cNvSpPr/>
          <p:nvPr/>
        </p:nvSpPr>
        <p:spPr>
          <a:xfrm>
            <a:off x="3429000" y="5440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(18 + 1 derived)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309360" y="4663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24" name="Text 21"/>
          <p:cNvSpPr/>
          <p:nvPr/>
        </p:nvSpPr>
        <p:spPr>
          <a:xfrm>
            <a:off x="6309360" y="5440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89720" y="4663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4400" dirty="0"/>
          </a:p>
        </p:txBody>
      </p:sp>
      <p:sp>
        <p:nvSpPr>
          <p:cNvPr id="26" name="Text 23"/>
          <p:cNvSpPr/>
          <p:nvPr/>
        </p:nvSpPr>
        <p:spPr>
          <a:xfrm>
            <a:off x="9189720" y="5440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data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/home/claude/DevCompare/docs/assets/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28600"/>
            <a:ext cx="868680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828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quality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WDI – two Excel extracts, last updated 07/13/2026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" y="649224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· Data Analysis · DevCompare   |   3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280160"/>
          <a:ext cx="65836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7498080" y="1371600"/>
            <a:ext cx="4206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DE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498080" y="1481328"/>
            <a:ext cx="64008" cy="12435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26680" y="1463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2009 missing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726680" y="18745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for every country in both files.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98080" y="2971800"/>
            <a:ext cx="4206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DE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498080" y="3081528"/>
            <a:ext cx="64008" cy="12435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26680" y="3063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gap 2009–2015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726680" y="34747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 the Egypt/Nigeria file → 26.9 % interpolated.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498080" y="4572000"/>
            <a:ext cx="4206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498080" y="4681728"/>
            <a:ext cx="64008" cy="13350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726680" y="4663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rule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7726680" y="50749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 internal gaps ≤ 7 years, flag them, never use them for rankings or forecasts.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/home/claude/DevCompare/docs/assets/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28600"/>
            <a:ext cx="868680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828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pipeline feeding a static dashboard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" y="649224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· Data Analysis · DevCompare   |   4</a:t>
            </a:r>
            <a:endParaRPr lang="en-US" sz="1000" dirty="0"/>
          </a:p>
        </p:txBody>
      </p:sp>
      <p:pic>
        <p:nvPicPr>
          <p:cNvPr id="7" name="Image 1" descr="/home/claude/DevCompare/docs/diagrams/architectu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280160"/>
            <a:ext cx="11064240" cy="4160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server, no database, no paid services · Python · pandas · NumPy · scikit-learn · matplotlib · openpyxl · Chart.js · GitHub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/home/claude/DevCompare/docs/assets/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28600"/>
            <a:ext cx="868680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828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numbers are produced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" y="649224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· Data Analysis · DevCompare   |   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481328"/>
            <a:ext cx="64008" cy="206654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4630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merge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187452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“..”, merge files with priority, keep 5 countries and 18 indicators.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3400" y="137160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1481328"/>
            <a:ext cx="64008" cy="20665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0" y="14630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572000" y="187452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internal gaps ≤ 7 years, flagged as not observed.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38160" y="137160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138160" y="1481328"/>
            <a:ext cx="64008" cy="20665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6760" y="14630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&amp; grow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366760" y="187452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 = best (direction-aware); CAGR for GDP, GDP per capita, population.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384048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48640" y="3950208"/>
            <a:ext cx="64008" cy="20665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39319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Score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777240" y="434340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normalise 6 indicators across the 5 countries; mean × 100 (relative).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343400" y="384048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343400" y="3950208"/>
            <a:ext cx="64008" cy="206654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0" y="39319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4572000" y="434340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trend on observed points to 2030; hold-out MAE; never below zero.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138160" y="384048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138160" y="3950208"/>
            <a:ext cx="64008" cy="20665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66760" y="39319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8366760" y="434340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matrix with a caution against causal claims.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/home/claude/DevCompare/docs/assets/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28600"/>
            <a:ext cx="868680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828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HTML file · Chart.js · light/dark mode · responsive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" y="649224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· Data Analysis · DevCompare   |   6</a:t>
            </a:r>
            <a:endParaRPr lang="en-US" sz="1000" dirty="0"/>
          </a:p>
        </p:txBody>
      </p:sp>
      <p:pic>
        <p:nvPicPr>
          <p:cNvPr id="7" name="Image 1" descr="/home/claude/DevCompare/docs/diagrams/wirefram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234440"/>
            <a:ext cx="7589520" cy="2743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0233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(wireframes)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8412480" y="128016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8412480" y="1389888"/>
            <a:ext cx="64008" cy="279806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41080" y="1371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8641080" y="1783080"/>
            <a:ext cx="2926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Pick theme and indicator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 or hide countries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Trend line + forecast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Latest value bar chart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Ranking table with rule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cards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526280"/>
            <a:ext cx="111556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DE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8640" y="4636008"/>
            <a:ext cx="64008" cy="1380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7240" y="46177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by design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77240" y="50292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Hollow markers = interpolated points · dashed lines = forecast · source, units and the ranking rule are always shown beside the results.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/home/claude/DevCompare/docs/assets/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28600"/>
            <a:ext cx="868680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828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Development Score and long-run growth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" y="649224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· Data Analysis · DevCompare   |   7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280160"/>
          <a:ext cx="54864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6217920" y="1280160"/>
          <a:ext cx="54864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/home/claude/DevCompare/docs/assets/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28600"/>
            <a:ext cx="868680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828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observed values; ranking among the five countries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" y="649224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· Data Analysis · DevCompare   |   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481328"/>
            <a:ext cx="64008" cy="19751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4630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leads, Nigeria trails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187452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83.3 · Brazil 76.1 · Egypt 52.4 · India 50.1 · Nigeria 16.7. Nigeria is last on five of the six score indicators.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137160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1481328"/>
            <a:ext cx="64008" cy="19751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14630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grows fastest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446520" y="187452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CAGR 8.9 % and the largest GDP (≈ US$ 4.0 T), but GDP per capita (≈ US$ 2,700) and mobile subscriptions stay low.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74904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3858768"/>
            <a:ext cx="64008" cy="206654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3840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77240" y="425196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industry share of GDP (32 %); GDP deflator inflation about 25 %, second to Türkiye (36 %); life expectancy 71.8 years.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17920" y="374904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3858768"/>
            <a:ext cx="64008" cy="20665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46520" y="3840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446520" y="425196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population growth (2.1 %) with the lowest life expectancy (54.6 years) and the highest under-5 mortality (115.6 per 1,000).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/home/claude/DevCompare/docs/assets/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28600"/>
            <a:ext cx="868680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828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quality assurance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defects found and how they were handled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" y="649224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· Data Analysis · DevCompare   |   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280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389120" y="1280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3.7 s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438912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0" y="1280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83 KB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2296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file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1115568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6035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2009 missing for all countries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Interpolated and flagged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Egypt missing 2009–2015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Interpolated and flagged; re-export recommended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Nigeria rows in both files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merge + duplicate 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forecast (Türkiye mortality)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Clipped at 0 + test added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export TypeError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(sheet_name keyword)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57607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acceptance tests (UAT-01 … UAT-09) are defined in the Test Report and must be executed by the team.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/home/claude/DevCompare/docs/assets/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28600"/>
            <a:ext cx="868680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828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responsibilities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463040" y="71323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explains the part they delivered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" y="649224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· Data Analysis · DevCompare   |   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556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560320"/>
                <a:gridCol w="5120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Shahd Mahmoud Abdelmagid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Leader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Planning, GitHub, integration, final presentation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Malak Hassan Mahmoud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Engineer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loader, cleaning, quality report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Eman Ali Mostafa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Analyst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Ranking, CAGR, score, forecast, insights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Farah Khaled Fathy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Developer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dashboard and static charts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Mariam Baher Mohsen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Systems Analyst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Requirements, UML, ERD, wireframes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Menna AbdelNasser Ramadan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&amp; Documentation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Tests, bug reports, manual, technical doc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669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Nouran Elzeky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/home/claude/DevCompare/docs/assets/logo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28600"/>
            <a:ext cx="868680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828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limitations &amp; next steps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11480" y="649224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· Data Analysis · DevCompare   |   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DE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481328"/>
            <a:ext cx="64008" cy="42611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4630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limitations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18745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Missing years in the supplied extracts (2009; Egypt 2009–2015)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Some indicators empty for some countries (excluded)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Linear forecasts are indicative only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score is relative to these five countries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Latest year differs by indicator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37160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DE3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0" y="1481328"/>
            <a:ext cx="64008" cy="42611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14630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446520" y="18745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Re-export complete Egypt 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more countries and indicators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Try better time-series models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the tests automatically on every pull request (GitHub Actions)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Arabic / English dashboard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5989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DevCompare – Final Presentation</dc:title>
  <dc:subject>PptxGenJS Presentation</dc:subject>
  <dc:creator>DevCompare Team</dc:creator>
  <cp:lastModifiedBy>DevCompare Team</cp:lastModifiedBy>
  <cp:revision>1</cp:revision>
  <dcterms:created xsi:type="dcterms:W3CDTF">2026-10-31T04:04:26Z</dcterms:created>
  <dcterms:modified xsi:type="dcterms:W3CDTF">2026-10-31T04:04:26Z</dcterms:modified>
</cp:coreProperties>
</file>